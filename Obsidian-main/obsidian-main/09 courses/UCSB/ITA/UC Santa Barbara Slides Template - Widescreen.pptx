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47" y="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4b7e07254_2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the political sciences one? Why not a democracy perspective? Why not a civic one?</a:t>
            </a:r>
            <a:endParaRPr/>
          </a:p>
        </p:txBody>
      </p:sp>
      <p:sp>
        <p:nvSpPr>
          <p:cNvPr id="77" name="Google Shape;77;g44b7e07254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4b7e07254_2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44b7e07254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a51a81c5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a51a81c5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Political parties have 300 years old. I’m not offering you old wine in new bottles. A sociology of political parties don’t offer an old concept  as new, but build its definition from the context.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a51a81c5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a51a81c5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a15c7bfe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eso se hace sociologia política.</a:t>
            </a:r>
            <a:endParaRPr/>
          </a:p>
        </p:txBody>
      </p:sp>
      <p:sp>
        <p:nvSpPr>
          <p:cNvPr id="107" name="Google Shape;107;g31a15c7bf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c2998939e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eso se hace sociologia política.</a:t>
            </a:r>
            <a:endParaRPr/>
          </a:p>
        </p:txBody>
      </p:sp>
      <p:sp>
        <p:nvSpPr>
          <p:cNvPr id="113" name="Google Shape;113;g31c299893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a692e9c3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a692e9c3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a51a81c54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1a51a81c5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a15c7bfe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1a15c7bfe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4b7e07254_2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44b7e07254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218710"/>
            <a:ext cx="9144000" cy="92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7809" y="1154296"/>
            <a:ext cx="84522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94000" y="1811325"/>
            <a:ext cx="84522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50024" y="4841748"/>
            <a:ext cx="1932469" cy="143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32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s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94853" y="273844"/>
            <a:ext cx="83544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31050" y="1023175"/>
            <a:ext cx="7161000" cy="3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94853" y="273844"/>
            <a:ext cx="83544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4472325" y="1162300"/>
            <a:ext cx="33441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531050" y="1023175"/>
            <a:ext cx="3493200" cy="3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397775" y="1023175"/>
            <a:ext cx="3493200" cy="3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+ horizontal image">
  <p:cSld name="Two Content Blocks + Pictur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/>
        </p:nvSpPr>
        <p:spPr>
          <a:xfrm>
            <a:off x="718800" y="1024875"/>
            <a:ext cx="77502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94853" y="273844"/>
            <a:ext cx="83544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534700" y="918225"/>
            <a:ext cx="4722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531050" y="1395225"/>
            <a:ext cx="81630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 list + image">
  <p:cSld name="Two Content Blocks + Picture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94853" y="273844"/>
            <a:ext cx="83544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ubTitle" idx="1"/>
          </p:nvPr>
        </p:nvSpPr>
        <p:spPr>
          <a:xfrm>
            <a:off x="534700" y="918225"/>
            <a:ext cx="4722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531050" y="1395225"/>
            <a:ext cx="4722300" cy="3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list">
  <p:cSld name="Two Content Blocks + Picture_2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94853" y="273844"/>
            <a:ext cx="83544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535276" y="918225"/>
            <a:ext cx="4077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2"/>
          </p:nvPr>
        </p:nvSpPr>
        <p:spPr>
          <a:xfrm>
            <a:off x="531050" y="1395225"/>
            <a:ext cx="40815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3"/>
          </p:nvPr>
        </p:nvSpPr>
        <p:spPr>
          <a:xfrm>
            <a:off x="535276" y="2862025"/>
            <a:ext cx="4077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4"/>
          </p:nvPr>
        </p:nvSpPr>
        <p:spPr>
          <a:xfrm>
            <a:off x="531050" y="3339025"/>
            <a:ext cx="40815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ubTitle" idx="5"/>
          </p:nvPr>
        </p:nvSpPr>
        <p:spPr>
          <a:xfrm>
            <a:off x="4810401" y="918225"/>
            <a:ext cx="4077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6"/>
          </p:nvPr>
        </p:nvSpPr>
        <p:spPr>
          <a:xfrm>
            <a:off x="4806175" y="1395225"/>
            <a:ext cx="40815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7"/>
          </p:nvPr>
        </p:nvSpPr>
        <p:spPr>
          <a:xfrm>
            <a:off x="4810401" y="2862025"/>
            <a:ext cx="4077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8"/>
          </p:nvPr>
        </p:nvSpPr>
        <p:spPr>
          <a:xfrm>
            <a:off x="4806175" y="3339025"/>
            <a:ext cx="40815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list">
  <p:cSld name="Two Content Blocks + Picture_2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94853" y="273844"/>
            <a:ext cx="83544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3" name="Google Shape;43;p8"/>
          <p:cNvSpPr txBox="1"/>
          <p:nvPr/>
        </p:nvSpPr>
        <p:spPr>
          <a:xfrm>
            <a:off x="1149250" y="3624025"/>
            <a:ext cx="23898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534700" y="918225"/>
            <a:ext cx="4722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531050" y="1395225"/>
            <a:ext cx="47223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3"/>
          </p:nvPr>
        </p:nvSpPr>
        <p:spPr>
          <a:xfrm>
            <a:off x="534700" y="2862025"/>
            <a:ext cx="4722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4859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4859B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531050" y="3339025"/>
            <a:ext cx="47223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2100"/>
              <a:buFont typeface="Century Gothic"/>
              <a:buChar char="●"/>
              <a:defRPr sz="21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800"/>
              <a:buFont typeface="Century Gothic"/>
              <a:buChar char="●"/>
              <a:defRPr sz="1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600"/>
              <a:buFont typeface="Century Gothic"/>
              <a:buChar char="●"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400"/>
              <a:buFont typeface="Century Gothic"/>
              <a:buChar char="●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200"/>
              <a:buFont typeface="Century Gothic"/>
              <a:buChar char="●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1000"/>
              <a:buFont typeface="Century Gothic"/>
              <a:buChar char="●"/>
              <a:defRPr sz="10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59B"/>
              </a:buClr>
              <a:buSzPts val="900"/>
              <a:buFont typeface="Century Gothic"/>
              <a:buChar char="●"/>
              <a:defRPr sz="9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bg>
      <p:bgPr>
        <a:solidFill>
          <a:schemeClr val="dk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4623956"/>
            <a:ext cx="91440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19275" y="2366963"/>
            <a:ext cx="550545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Navy" type="secHead">
  <p:cSld name="SECTION_HEADER">
    <p:bg>
      <p:bgPr>
        <a:solidFill>
          <a:schemeClr val="dk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0" y="4218710"/>
            <a:ext cx="9144000" cy="92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623888" y="3070518"/>
            <a:ext cx="78867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ubTitle" idx="1"/>
          </p:nvPr>
        </p:nvSpPr>
        <p:spPr>
          <a:xfrm>
            <a:off x="653175" y="3900000"/>
            <a:ext cx="46758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84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Moss">
  <p:cSld name="Section Header Moss">
    <p:bg>
      <p:bgPr>
        <a:solidFill>
          <a:schemeClr val="accent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0" y="4218710"/>
            <a:ext cx="9144000" cy="92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623888" y="3070518"/>
            <a:ext cx="78867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ubTitle" idx="1"/>
          </p:nvPr>
        </p:nvSpPr>
        <p:spPr>
          <a:xfrm>
            <a:off x="653175" y="3900000"/>
            <a:ext cx="46758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Sea Green">
  <p:cSld name="Section Header Sea Green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0" y="4218710"/>
            <a:ext cx="9144000" cy="92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623888" y="3070518"/>
            <a:ext cx="78867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ubTitle" idx="1"/>
          </p:nvPr>
        </p:nvSpPr>
        <p:spPr>
          <a:xfrm>
            <a:off x="653175" y="3900000"/>
            <a:ext cx="46758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Coral">
  <p:cSld name="Section Header Coral">
    <p:bg>
      <p:bgPr>
        <a:solidFill>
          <a:schemeClr val="accent4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4218710"/>
            <a:ext cx="9144000" cy="924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623888" y="3070518"/>
            <a:ext cx="78867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653175" y="3900000"/>
            <a:ext cx="46758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Gold">
  <p:cSld name="Section Header Gold"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4218710"/>
            <a:ext cx="9144000" cy="92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23888" y="3070518"/>
            <a:ext cx="78867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Century Gothic"/>
              <a:buNone/>
              <a:defRPr sz="2700" b="1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653175" y="3900000"/>
            <a:ext cx="46758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Aqua 1">
  <p:cSld name="Section Header Aqua_1">
    <p:bg>
      <p:bgPr>
        <a:solidFill>
          <a:schemeClr val="accen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4218710"/>
            <a:ext cx="91440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776288" y="3222918"/>
            <a:ext cx="78867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805575" y="4052400"/>
            <a:ext cx="46758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4853" y="273844"/>
            <a:ext cx="83544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114300" y="4844350"/>
            <a:ext cx="209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Office/Department/Division Name</a:t>
            </a:r>
            <a:endParaRPr sz="1100"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025800" y="4844350"/>
            <a:ext cx="1951327" cy="1463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ctrTitle"/>
          </p:nvPr>
        </p:nvSpPr>
        <p:spPr>
          <a:xfrm>
            <a:off x="317809" y="1154296"/>
            <a:ext cx="8452118" cy="69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</a:pPr>
            <a:r>
              <a:rPr lang="en"/>
              <a:t>A sociology of political parties. Why?</a:t>
            </a:r>
            <a:endParaRPr sz="27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1"/>
          </p:nvPr>
        </p:nvSpPr>
        <p:spPr>
          <a:xfrm>
            <a:off x="317763" y="1846275"/>
            <a:ext cx="84522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rPr lang="en" sz="1700"/>
              <a:t>5 minutes presentation for the International Teaching Assistant Examination - Fall 2024</a:t>
            </a:r>
            <a:endParaRPr sz="17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94000" y="162250"/>
            <a:ext cx="209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December 12, 2024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17800" y="4841750"/>
            <a:ext cx="418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Sociology M.A./Ph.D. program - Sociology Department</a:t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17800" y="2571750"/>
            <a:ext cx="8290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José Manuel Mejía Villena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628650" y="371571"/>
            <a:ext cx="7886700" cy="430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Minimal definition of political parties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628650" y="1024925"/>
            <a:ext cx="7886700" cy="17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2"/>
                </a:solidFill>
              </a:rPr>
              <a:t>Any organization contending for state power.</a:t>
            </a:r>
            <a:endParaRPr b="1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Examples:</a:t>
            </a:r>
            <a:r>
              <a:rPr lang="en" sz="1700"/>
              <a:t> Democratic or Republican Party of today, Italian Communist Party of 1960’s, Colombian Green Party of the 2000’s.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90" name="Google Shape;90;p17"/>
          <p:cNvSpPr txBox="1">
            <a:spLocks noGrp="1"/>
          </p:cNvSpPr>
          <p:nvPr>
            <p:ph type="ctrTitle" idx="4294967295"/>
          </p:nvPr>
        </p:nvSpPr>
        <p:spPr>
          <a:xfrm>
            <a:off x="345909" y="2920421"/>
            <a:ext cx="8452200" cy="692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Are political parties changing 						as organizations contending					for state power? </a:t>
            </a:r>
            <a:endParaRPr sz="2100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latin typeface="Arial"/>
                <a:ea typeface="Arial"/>
                <a:cs typeface="Arial"/>
                <a:sym typeface="Arial"/>
              </a:rPr>
              <a:t>How? Why?</a:t>
            </a:r>
            <a:endParaRPr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ctrTitle"/>
          </p:nvPr>
        </p:nvSpPr>
        <p:spPr>
          <a:xfrm>
            <a:off x="345909" y="1581396"/>
            <a:ext cx="8452200" cy="692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Why a sociology of political parties?</a:t>
            </a:r>
            <a:endParaRPr sz="3000"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1"/>
          </p:nvPr>
        </p:nvSpPr>
        <p:spPr>
          <a:xfrm>
            <a:off x="400500" y="3063975"/>
            <a:ext cx="8544900" cy="104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chemeClr val="accent1"/>
                </a:solidFill>
              </a:rPr>
              <a:t>Is not offering you old wine in new bottles. </a:t>
            </a:r>
            <a:endParaRPr sz="1800" b="1" i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</a:rPr>
              <a:t>A sociology of political parties don’t offer an old concept as new, but build the concept from the context.</a:t>
            </a:r>
            <a:endParaRPr sz="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628650" y="429175"/>
            <a:ext cx="8032800" cy="4914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Why political parties change? </a:t>
            </a:r>
            <a:r>
              <a:rPr lang="en">
                <a:solidFill>
                  <a:schemeClr val="lt2"/>
                </a:solidFill>
              </a:rPr>
              <a:t>Context matters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1"/>
          </p:nvPr>
        </p:nvSpPr>
        <p:spPr>
          <a:xfrm>
            <a:off x="132675" y="1138450"/>
            <a:ext cx="4346400" cy="29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U.S. and Latin America populations lives mainly in </a:t>
            </a:r>
            <a:r>
              <a:rPr lang="en">
                <a:solidFill>
                  <a:schemeClr val="dk2"/>
                </a:solidFill>
              </a:rPr>
              <a:t>competitive and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semi-competitive </a:t>
            </a:r>
            <a:r>
              <a:rPr lang="en" b="1">
                <a:solidFill>
                  <a:schemeClr val="dk2"/>
                </a:solidFill>
              </a:rPr>
              <a:t>electoral democracies</a:t>
            </a:r>
            <a:r>
              <a:rPr lang="en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those political regimes,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parties contention for state power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</a:t>
            </a:r>
            <a:r>
              <a:rPr lang="en">
                <a:solidFill>
                  <a:schemeClr val="dk2"/>
                </a:solidFill>
              </a:rPr>
              <a:t>mediated by elections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4479075" y="1130800"/>
            <a:ext cx="45864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China, as in other countries, 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where the population lives 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 </a:t>
            </a:r>
            <a:r>
              <a:rPr lang="en" sz="19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non-competitive political regimes</a:t>
            </a: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political parties accomplish different functions.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4" name="Google Shape;104;p19"/>
          <p:cNvCxnSpPr/>
          <p:nvPr/>
        </p:nvCxnSpPr>
        <p:spPr>
          <a:xfrm>
            <a:off x="4369800" y="1130800"/>
            <a:ext cx="60900" cy="378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776300" y="731946"/>
            <a:ext cx="7886700" cy="430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Sociological perspective to political parties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1"/>
          </p:nvPr>
        </p:nvSpPr>
        <p:spPr>
          <a:xfrm>
            <a:off x="805575" y="1428975"/>
            <a:ext cx="7886700" cy="30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lt2"/>
                </a:solidFill>
              </a:rPr>
              <a:t>Parties contention</a:t>
            </a:r>
            <a:r>
              <a:rPr lang="en" b="1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for state power can be analyzed as</a:t>
            </a:r>
            <a:r>
              <a:rPr lang="en" b="1">
                <a:solidFill>
                  <a:schemeClr val="lt1"/>
                </a:solidFill>
              </a:rPr>
              <a:t> </a:t>
            </a:r>
            <a:r>
              <a:rPr lang="en" b="1" i="1">
                <a:solidFill>
                  <a:srgbClr val="FFFF00"/>
                </a:solidFill>
              </a:rPr>
              <a:t>transgressive</a:t>
            </a:r>
            <a:r>
              <a:rPr lang="en" b="1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or</a:t>
            </a:r>
            <a:r>
              <a:rPr lang="en" b="1" i="1">
                <a:solidFill>
                  <a:schemeClr val="lt1"/>
                </a:solidFill>
              </a:rPr>
              <a:t> </a:t>
            </a:r>
            <a:r>
              <a:rPr lang="en" i="1">
                <a:solidFill>
                  <a:schemeClr val="dk2"/>
                </a:solidFill>
              </a:rPr>
              <a:t>institutionalized</a:t>
            </a:r>
            <a:r>
              <a:rPr lang="en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FF00"/>
                </a:solidFill>
              </a:rPr>
              <a:t>Is Transgressive</a:t>
            </a:r>
            <a:r>
              <a:rPr lang="en">
                <a:solidFill>
                  <a:schemeClr val="lt1"/>
                </a:solidFill>
              </a:rPr>
              <a:t> if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political parties </a:t>
            </a:r>
            <a:r>
              <a:rPr lang="en" b="1">
                <a:solidFill>
                  <a:schemeClr val="lt2"/>
                </a:solidFill>
              </a:rPr>
              <a:t>perform</a:t>
            </a:r>
            <a:r>
              <a:rPr lang="en">
                <a:solidFill>
                  <a:schemeClr val="lt1"/>
                </a:solidFill>
              </a:rPr>
              <a:t> by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unexpected </a:t>
            </a:r>
            <a:r>
              <a:rPr lang="en" i="1">
                <a:solidFill>
                  <a:schemeClr val="lt2"/>
                </a:solidFill>
              </a:rPr>
              <a:t>means</a:t>
            </a:r>
            <a:r>
              <a:rPr lang="en">
                <a:solidFill>
                  <a:schemeClr val="lt1"/>
                </a:solidFill>
              </a:rPr>
              <a:t> not precisely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under institutional bounds.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chemeClr val="lt1"/>
                </a:solidFill>
              </a:rPr>
              <a:t>And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 b="1" i="1">
                <a:solidFill>
                  <a:schemeClr val="lt2"/>
                </a:solidFill>
              </a:rPr>
              <a:t>affect the distribution</a:t>
            </a:r>
            <a:r>
              <a:rPr lang="en">
                <a:solidFill>
                  <a:schemeClr val="lt1"/>
                </a:solidFill>
              </a:rPr>
              <a:t> of wealth and power.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76300" y="731946"/>
            <a:ext cx="7886700" cy="430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Sociological perspective to political parties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805575" y="1428975"/>
            <a:ext cx="7886700" cy="30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lt2"/>
                </a:solidFill>
              </a:rPr>
              <a:t>Parties contention</a:t>
            </a:r>
            <a:r>
              <a:rPr lang="en" b="1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for state power can be analyzed as</a:t>
            </a:r>
            <a:r>
              <a:rPr lang="en" b="1">
                <a:solidFill>
                  <a:schemeClr val="lt1"/>
                </a:solidFill>
              </a:rPr>
              <a:t> </a:t>
            </a:r>
            <a:r>
              <a:rPr lang="en" i="1">
                <a:solidFill>
                  <a:srgbClr val="FFFF00"/>
                </a:solidFill>
              </a:rPr>
              <a:t>transgressive</a:t>
            </a:r>
            <a:r>
              <a:rPr lang="en" b="1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or</a:t>
            </a:r>
            <a:r>
              <a:rPr lang="en" b="1" i="1">
                <a:solidFill>
                  <a:schemeClr val="lt1"/>
                </a:solidFill>
              </a:rPr>
              <a:t> </a:t>
            </a:r>
            <a:r>
              <a:rPr lang="en" b="1" i="1">
                <a:solidFill>
                  <a:schemeClr val="dk2"/>
                </a:solidFill>
              </a:rPr>
              <a:t>institutionalized</a:t>
            </a:r>
            <a:r>
              <a:rPr lang="en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2"/>
                </a:solidFill>
              </a:rPr>
              <a:t>Is Institutionalized</a:t>
            </a:r>
            <a:r>
              <a:rPr lang="en">
                <a:solidFill>
                  <a:schemeClr val="lt1"/>
                </a:solidFill>
              </a:rPr>
              <a:t> if parties </a:t>
            </a:r>
            <a:r>
              <a:rPr lang="en" b="1">
                <a:solidFill>
                  <a:schemeClr val="lt2"/>
                </a:solidFill>
              </a:rPr>
              <a:t>perform</a:t>
            </a:r>
            <a:endParaRPr b="1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using the established </a:t>
            </a:r>
            <a:r>
              <a:rPr lang="en" i="1">
                <a:solidFill>
                  <a:schemeClr val="lt2"/>
                </a:solidFill>
              </a:rPr>
              <a:t>means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regulated by the political regime.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chemeClr val="lt1"/>
                </a:solidFill>
              </a:rPr>
              <a:t>And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 b="1" i="1">
                <a:solidFill>
                  <a:schemeClr val="lt2"/>
                </a:solidFill>
              </a:rPr>
              <a:t>don’t affect</a:t>
            </a:r>
            <a:r>
              <a:rPr lang="en" b="1">
                <a:solidFill>
                  <a:schemeClr val="lt2"/>
                </a:solidFill>
              </a:rPr>
              <a:t> </a:t>
            </a:r>
            <a:r>
              <a:rPr lang="en" b="1" i="1">
                <a:solidFill>
                  <a:schemeClr val="lt2"/>
                </a:solidFill>
              </a:rPr>
              <a:t>the interests and alignments</a:t>
            </a:r>
            <a:r>
              <a:rPr lang="en">
                <a:solidFill>
                  <a:schemeClr val="lt1"/>
                </a:solidFill>
              </a:rPr>
              <a:t> of elites.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94803" y="266594"/>
            <a:ext cx="8354400" cy="445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2-sociological criteria for political parties analysis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ubTitle" idx="1"/>
          </p:nvPr>
        </p:nvSpPr>
        <p:spPr>
          <a:xfrm>
            <a:off x="184275" y="990325"/>
            <a:ext cx="43167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Disruptiveness</a:t>
            </a:r>
            <a:r>
              <a:rPr lang="en"/>
              <a:t> of performances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2"/>
          </p:nvPr>
        </p:nvSpPr>
        <p:spPr>
          <a:xfrm>
            <a:off x="205125" y="1631125"/>
            <a:ext cx="4275000" cy="23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Party contention input political agendas 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provoking the disruption of alignments and arrangements over resource’s distribution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granted by state authority.</a:t>
            </a:r>
            <a:endParaRPr sz="1800"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5"/>
          </p:nvPr>
        </p:nvSpPr>
        <p:spPr>
          <a:xfrm>
            <a:off x="4586175" y="990325"/>
            <a:ext cx="42750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Institutional </a:t>
            </a:r>
            <a:r>
              <a:rPr lang="en"/>
              <a:t>scope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6"/>
          </p:nvPr>
        </p:nvSpPr>
        <p:spPr>
          <a:xfrm>
            <a:off x="4586175" y="1605425"/>
            <a:ext cx="4218600" cy="14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affection caused by the disruption escalates to the core interests represented in the state.</a:t>
            </a:r>
            <a:endParaRPr sz="1800"/>
          </a:p>
        </p:txBody>
      </p:sp>
      <p:cxnSp>
        <p:nvCxnSpPr>
          <p:cNvPr id="126" name="Google Shape;126;p22"/>
          <p:cNvCxnSpPr/>
          <p:nvPr/>
        </p:nvCxnSpPr>
        <p:spPr>
          <a:xfrm>
            <a:off x="4500825" y="942425"/>
            <a:ext cx="43800" cy="279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776300" y="731946"/>
            <a:ext cx="7886700" cy="430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 Party System in China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ubTitle" idx="1"/>
          </p:nvPr>
        </p:nvSpPr>
        <p:spPr>
          <a:xfrm>
            <a:off x="776300" y="1450825"/>
            <a:ext cx="7886700" cy="30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One party-system</a:t>
            </a:r>
            <a:endParaRPr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Delegative</a:t>
            </a:r>
            <a:r>
              <a:rPr lang="en">
                <a:solidFill>
                  <a:schemeClr val="lt1"/>
                </a:solidFill>
              </a:rPr>
              <a:t>: ChCP Officials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Representative</a:t>
            </a:r>
            <a:r>
              <a:rPr lang="en">
                <a:solidFill>
                  <a:schemeClr val="lt1"/>
                </a:solidFill>
              </a:rPr>
              <a:t>: ChCP Congresses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1426950" y="3082825"/>
            <a:ext cx="6290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0000"/>
                </a:solidFill>
              </a:rPr>
              <a:t>Is the only political organization contending for state power in China?</a:t>
            </a:r>
            <a:endParaRPr sz="1900" b="1">
              <a:solidFill>
                <a:srgbClr val="FF0000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1574600" y="4131675"/>
            <a:ext cx="6290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/>
              <a:t>Political parties contention can change the political regime. Looking forward to </a:t>
            </a:r>
            <a:r>
              <a:rPr lang="en" b="1" i="1">
                <a:solidFill>
                  <a:srgbClr val="FFFF00"/>
                </a:solidFill>
              </a:rPr>
              <a:t>Taiwan conflict</a:t>
            </a:r>
            <a:r>
              <a:rPr lang="en" b="1" i="1"/>
              <a:t>.</a:t>
            </a:r>
            <a:endParaRPr b="1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628650" y="491721"/>
            <a:ext cx="7886700" cy="430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Party System in U.S.</a:t>
            </a:r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ubTitle" idx="1"/>
          </p:nvPr>
        </p:nvSpPr>
        <p:spPr>
          <a:xfrm>
            <a:off x="765400" y="1166875"/>
            <a:ext cx="7886700" cy="30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Bi-party-system</a:t>
            </a:r>
            <a:endParaRPr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Participation mean</a:t>
            </a:r>
            <a:r>
              <a:rPr lang="en">
                <a:solidFill>
                  <a:schemeClr val="lt1"/>
                </a:solidFill>
              </a:rPr>
              <a:t>: Citizens vote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Representative</a:t>
            </a:r>
            <a:r>
              <a:rPr lang="en">
                <a:solidFill>
                  <a:schemeClr val="lt1"/>
                </a:solidFill>
              </a:rPr>
              <a:t>: Congressman's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Contained</a:t>
            </a:r>
            <a:r>
              <a:rPr lang="en">
                <a:solidFill>
                  <a:schemeClr val="lt1"/>
                </a:solidFill>
              </a:rPr>
              <a:t>: Democratic or Republican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4"/>
          <p:cNvSpPr txBox="1"/>
          <p:nvPr/>
        </p:nvSpPr>
        <p:spPr>
          <a:xfrm>
            <a:off x="1426950" y="2908100"/>
            <a:ext cx="6290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0000"/>
                </a:solidFill>
              </a:rPr>
              <a:t>Are the U.S. parties contending for state power only by institutionalized politics?</a:t>
            </a:r>
            <a:endParaRPr sz="1900" b="1">
              <a:solidFill>
                <a:srgbClr val="FF0000"/>
              </a:solidFill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1426950" y="3760400"/>
            <a:ext cx="629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/>
              <a:t>Political parties contention can change the political regime dynamics. The takeover of symbols of power of the U.S. democracy by right-wing factions of the Republican Party. Looking forward to </a:t>
            </a:r>
            <a:r>
              <a:rPr lang="en" b="1" i="1">
                <a:solidFill>
                  <a:srgbClr val="FFFF00"/>
                </a:solidFill>
              </a:rPr>
              <a:t>anti-government protests</a:t>
            </a:r>
            <a:r>
              <a:rPr lang="en" b="1" i="1"/>
              <a:t> involving rival political parties and </a:t>
            </a:r>
            <a:r>
              <a:rPr lang="en" b="1" i="1">
                <a:solidFill>
                  <a:schemeClr val="lt2"/>
                </a:solidFill>
              </a:rPr>
              <a:t>counter-mobilizations</a:t>
            </a:r>
            <a:r>
              <a:rPr lang="en" b="1" i="1"/>
              <a:t>.</a:t>
            </a:r>
            <a:endParaRPr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/>
        </p:nvSpPr>
        <p:spPr>
          <a:xfrm>
            <a:off x="1847200" y="3792650"/>
            <a:ext cx="62793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Thanks for your time! 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    </a:t>
            </a:r>
            <a:r>
              <a:rPr lang="en" b="1">
                <a:solidFill>
                  <a:schemeClr val="lt2"/>
                </a:solidFill>
              </a:rPr>
              <a:t> Feel free to comment or rise questions!</a:t>
            </a:r>
            <a:endParaRPr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 Santa Barbara Theme">
  <a:themeElements>
    <a:clrScheme name="UC Santa Barbara">
      <a:dk1>
        <a:srgbClr val="000000"/>
      </a:dk1>
      <a:lt1>
        <a:srgbClr val="FFFFFF"/>
      </a:lt1>
      <a:dk2>
        <a:srgbClr val="003660"/>
      </a:dk2>
      <a:lt2>
        <a:srgbClr val="FEBC11"/>
      </a:lt2>
      <a:accent1>
        <a:srgbClr val="04859B"/>
      </a:accent1>
      <a:accent2>
        <a:srgbClr val="798D38"/>
      </a:accent2>
      <a:accent3>
        <a:srgbClr val="0BA89A"/>
      </a:accent3>
      <a:accent4>
        <a:srgbClr val="EF5645"/>
      </a:accent4>
      <a:accent5>
        <a:srgbClr val="9CBEBE"/>
      </a:accent5>
      <a:accent6>
        <a:srgbClr val="DCD6CC"/>
      </a:accent6>
      <a:hlink>
        <a:srgbClr val="07518C"/>
      </a:hlink>
      <a:folHlink>
        <a:srgbClr val="A1AFB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Presentación en pantalla (16:9)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Avenir</vt:lpstr>
      <vt:lpstr>Century Gothic</vt:lpstr>
      <vt:lpstr>Calibri</vt:lpstr>
      <vt:lpstr>Arial</vt:lpstr>
      <vt:lpstr>UC Santa Barbara Theme</vt:lpstr>
      <vt:lpstr>A sociology of political parties. Why?</vt:lpstr>
      <vt:lpstr>Minimal definition of political parties</vt:lpstr>
      <vt:lpstr>Why a sociology of political parties?</vt:lpstr>
      <vt:lpstr>Why political parties change? Context matters</vt:lpstr>
      <vt:lpstr>Sociological perspective to political parties</vt:lpstr>
      <vt:lpstr>Sociological perspective to political parties</vt:lpstr>
      <vt:lpstr>2-sociological criteria for political parties analysis</vt:lpstr>
      <vt:lpstr>Unique Party System in China</vt:lpstr>
      <vt:lpstr>Two Party System in U.S.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José Manuel</dc:creator>
  <cp:lastModifiedBy>51964</cp:lastModifiedBy>
  <cp:revision>1</cp:revision>
  <dcterms:modified xsi:type="dcterms:W3CDTF">2024-12-05T10:03:05Z</dcterms:modified>
</cp:coreProperties>
</file>